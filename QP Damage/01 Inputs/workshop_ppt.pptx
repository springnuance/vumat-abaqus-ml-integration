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811" r:id="rId4"/>
  </p:sldMasterIdLst>
  <p:notesMasterIdLst>
    <p:notesMasterId r:id="rId32"/>
  </p:notesMasterIdLst>
  <p:handoutMasterIdLst>
    <p:handoutMasterId r:id="rId33"/>
  </p:handoutMasterIdLst>
  <p:sldIdLst>
    <p:sldId id="256" r:id="rId5"/>
    <p:sldId id="273" r:id="rId6"/>
    <p:sldId id="257" r:id="rId7"/>
    <p:sldId id="274" r:id="rId8"/>
    <p:sldId id="275" r:id="rId9"/>
    <p:sldId id="276" r:id="rId10"/>
    <p:sldId id="259" r:id="rId11"/>
    <p:sldId id="260" r:id="rId12"/>
    <p:sldId id="272" r:id="rId13"/>
    <p:sldId id="261" r:id="rId14"/>
    <p:sldId id="277" r:id="rId15"/>
    <p:sldId id="278" r:id="rId16"/>
    <p:sldId id="279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64" r:id="rId25"/>
    <p:sldId id="265" r:id="rId26"/>
    <p:sldId id="270" r:id="rId27"/>
    <p:sldId id="266" r:id="rId28"/>
    <p:sldId id="271" r:id="rId29"/>
    <p:sldId id="289" r:id="rId30"/>
    <p:sldId id="267" r:id="rId31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C77BEB-8A2F-496E-92E6-9C64B0B4EFBF}">
          <p14:sldIdLst>
            <p14:sldId id="256"/>
            <p14:sldId id="273"/>
            <p14:sldId id="257"/>
            <p14:sldId id="274"/>
            <p14:sldId id="275"/>
            <p14:sldId id="276"/>
            <p14:sldId id="259"/>
            <p14:sldId id="260"/>
            <p14:sldId id="272"/>
            <p14:sldId id="261"/>
            <p14:sldId id="277"/>
            <p14:sldId id="278"/>
            <p14:sldId id="279"/>
            <p14:sldId id="282"/>
            <p14:sldId id="283"/>
            <p14:sldId id="284"/>
            <p14:sldId id="285"/>
            <p14:sldId id="286"/>
            <p14:sldId id="287"/>
            <p14:sldId id="288"/>
            <p14:sldId id="264"/>
            <p14:sldId id="265"/>
            <p14:sldId id="270"/>
            <p14:sldId id="266"/>
            <p14:sldId id="271"/>
            <p14:sldId id="289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sj" initials="l" lastIdx="8" clrIdx="0">
    <p:extLst>
      <p:ext uri="{19B8F6BF-5375-455C-9EA6-DF929625EA0E}">
        <p15:presenceInfo xmlns:p15="http://schemas.microsoft.com/office/powerpoint/2012/main" userId="lsj" providerId="None"/>
      </p:ext>
    </p:extLst>
  </p:cmAuthor>
  <p:cmAuthor id="2" name="Junhe Lian" initials="JL" lastIdx="1" clrIdx="1">
    <p:extLst>
      <p:ext uri="{19B8F6BF-5375-455C-9EA6-DF929625EA0E}">
        <p15:presenceInfo xmlns:p15="http://schemas.microsoft.com/office/powerpoint/2012/main" userId="c48a0666b18b49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7B7"/>
    <a:srgbClr val="00D0AF"/>
    <a:srgbClr val="0000FF"/>
    <a:srgbClr val="FF0000"/>
    <a:srgbClr val="FF9900"/>
    <a:srgbClr val="00FF00"/>
    <a:srgbClr val="32309F"/>
    <a:srgbClr val="00549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07BE2-840B-4ED3-87CC-68990740B836}" v="8" dt="2023-08-30T14:16:45.034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023" autoAdjust="0"/>
  </p:normalViewPr>
  <p:slideViewPr>
    <p:cSldViewPr snapToGrid="0">
      <p:cViewPr varScale="1">
        <p:scale>
          <a:sx n="162" d="100"/>
          <a:sy n="162" d="100"/>
        </p:scale>
        <p:origin x="26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90" y="96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 Sayoojya" userId="S::sayoojya.prasad@aalto.fi::07e77774-94b4-4cf6-b0f8-bde085138f71" providerId="AD" clId="Web-{DF3BA91B-C943-A1DE-E7AA-BE13C47EED81}"/>
    <pc:docChg chg="modSld">
      <pc:chgData name="Prasad Sayoojya" userId="S::sayoojya.prasad@aalto.fi::07e77774-94b4-4cf6-b0f8-bde085138f71" providerId="AD" clId="Web-{DF3BA91B-C943-A1DE-E7AA-BE13C47EED81}" dt="2023-06-14T12:55:14.667" v="1" actId="20577"/>
      <pc:docMkLst>
        <pc:docMk/>
      </pc:docMkLst>
      <pc:sldChg chg="modSp">
        <pc:chgData name="Prasad Sayoojya" userId="S::sayoojya.prasad@aalto.fi::07e77774-94b4-4cf6-b0f8-bde085138f71" providerId="AD" clId="Web-{DF3BA91B-C943-A1DE-E7AA-BE13C47EED81}" dt="2023-06-14T12:55:14.667" v="1" actId="20577"/>
        <pc:sldMkLst>
          <pc:docMk/>
          <pc:sldMk cId="4115857771" sldId="282"/>
        </pc:sldMkLst>
        <pc:spChg chg="mod">
          <ac:chgData name="Prasad Sayoojya" userId="S::sayoojya.prasad@aalto.fi::07e77774-94b4-4cf6-b0f8-bde085138f71" providerId="AD" clId="Web-{DF3BA91B-C943-A1DE-E7AA-BE13C47EED81}" dt="2023-06-14T12:55:14.667" v="1" actId="20577"/>
          <ac:spMkLst>
            <pc:docMk/>
            <pc:sldMk cId="4115857771" sldId="282"/>
            <ac:spMk id="3" creationId="{B2A8D863-4EC1-17C8-6909-744F295E6E0B}"/>
          </ac:spMkLst>
        </pc:spChg>
      </pc:sldChg>
    </pc:docChg>
  </pc:docChgLst>
  <pc:docChgLst>
    <pc:chgData name="Prasad Sayoojya" userId="07e77774-94b4-4cf6-b0f8-bde085138f71" providerId="ADAL" clId="{52607BE2-840B-4ED3-87CC-68990740B836}"/>
    <pc:docChg chg="modSld">
      <pc:chgData name="Prasad Sayoojya" userId="07e77774-94b4-4cf6-b0f8-bde085138f71" providerId="ADAL" clId="{52607BE2-840B-4ED3-87CC-68990740B836}" dt="2023-08-30T14:16:45.033" v="7" actId="732"/>
      <pc:docMkLst>
        <pc:docMk/>
      </pc:docMkLst>
      <pc:sldChg chg="addSp delSp modSp">
        <pc:chgData name="Prasad Sayoojya" userId="07e77774-94b4-4cf6-b0f8-bde085138f71" providerId="ADAL" clId="{52607BE2-840B-4ED3-87CC-68990740B836}" dt="2023-08-30T14:16:45.033" v="7" actId="732"/>
        <pc:sldMkLst>
          <pc:docMk/>
          <pc:sldMk cId="2318160358" sldId="288"/>
        </pc:sldMkLst>
        <pc:picChg chg="add del mod">
          <ac:chgData name="Prasad Sayoojya" userId="07e77774-94b4-4cf6-b0f8-bde085138f71" providerId="ADAL" clId="{52607BE2-840B-4ED3-87CC-68990740B836}" dt="2023-08-30T14:16:27.725" v="4" actId="478"/>
          <ac:picMkLst>
            <pc:docMk/>
            <pc:sldMk cId="2318160358" sldId="288"/>
            <ac:picMk id="2" creationId="{2DB2F7B3-316F-43C5-143A-75BFC4AF7B1C}"/>
          </ac:picMkLst>
        </pc:picChg>
        <pc:picChg chg="add mod">
          <ac:chgData name="Prasad Sayoojya" userId="07e77774-94b4-4cf6-b0f8-bde085138f71" providerId="ADAL" clId="{52607BE2-840B-4ED3-87CC-68990740B836}" dt="2023-08-30T14:16:45.033" v="7" actId="732"/>
          <ac:picMkLst>
            <pc:docMk/>
            <pc:sldMk cId="2318160358" sldId="288"/>
            <ac:picMk id="3" creationId="{C8FFD3E1-2F6D-065E-7163-AD0624886F3A}"/>
          </ac:picMkLst>
        </pc:picChg>
      </pc:sldChg>
    </pc:docChg>
  </pc:docChgLst>
  <pc:docChgLst>
    <pc:chgData name="Sayoojya Prasad" userId="fa2a096117177298" providerId="LiveId" clId="{0DE794C5-0F85-49C2-872C-A4F30B3AFE0D}"/>
    <pc:docChg chg="undo custSel addSld modSld modMainMaster">
      <pc:chgData name="Sayoojya Prasad" userId="fa2a096117177298" providerId="LiveId" clId="{0DE794C5-0F85-49C2-872C-A4F30B3AFE0D}" dt="2022-08-24T11:05:12.701" v="787" actId="20577"/>
      <pc:docMkLst>
        <pc:docMk/>
      </pc:docMkLst>
      <pc:sldChg chg="modSp mod">
        <pc:chgData name="Sayoojya Prasad" userId="fa2a096117177298" providerId="LiveId" clId="{0DE794C5-0F85-49C2-872C-A4F30B3AFE0D}" dt="2022-08-24T10:09:18.777" v="544" actId="20577"/>
        <pc:sldMkLst>
          <pc:docMk/>
          <pc:sldMk cId="1694422516" sldId="256"/>
        </pc:sldMkLst>
        <pc:spChg chg="mod">
          <ac:chgData name="Sayoojya Prasad" userId="fa2a096117177298" providerId="LiveId" clId="{0DE794C5-0F85-49C2-872C-A4F30B3AFE0D}" dt="2022-08-24T10:09:18.777" v="544" actId="20577"/>
          <ac:spMkLst>
            <pc:docMk/>
            <pc:sldMk cId="1694422516" sldId="256"/>
            <ac:spMk id="2" creationId="{3B0EEFFC-456C-41CA-8582-6E68658427F7}"/>
          </ac:spMkLst>
        </pc:spChg>
      </pc:sldChg>
      <pc:sldChg chg="delSp modSp mod">
        <pc:chgData name="Sayoojya Prasad" userId="fa2a096117177298" providerId="LiveId" clId="{0DE794C5-0F85-49C2-872C-A4F30B3AFE0D}" dt="2022-08-24T00:40:58.609" v="5" actId="14100"/>
        <pc:sldMkLst>
          <pc:docMk/>
          <pc:sldMk cId="1150849503" sldId="257"/>
        </pc:sldMkLst>
        <pc:spChg chg="del">
          <ac:chgData name="Sayoojya Prasad" userId="fa2a096117177298" providerId="LiveId" clId="{0DE794C5-0F85-49C2-872C-A4F30B3AFE0D}" dt="2022-08-24T00:40:50.633" v="3" actId="478"/>
          <ac:spMkLst>
            <pc:docMk/>
            <pc:sldMk cId="1150849503" sldId="257"/>
            <ac:spMk id="2" creationId="{A2F71BA9-BAF2-68C5-AC18-43821E1D64E5}"/>
          </ac:spMkLst>
        </pc:spChg>
        <pc:spChg chg="mod">
          <ac:chgData name="Sayoojya Prasad" userId="fa2a096117177298" providerId="LiveId" clId="{0DE794C5-0F85-49C2-872C-A4F30B3AFE0D}" dt="2022-08-24T00:40:58.609" v="5" actId="14100"/>
          <ac:spMkLst>
            <pc:docMk/>
            <pc:sldMk cId="1150849503" sldId="257"/>
            <ac:spMk id="3" creationId="{54327C98-D328-F534-8E1A-243C28FC4E97}"/>
          </ac:spMkLst>
        </pc:spChg>
      </pc:sldChg>
      <pc:sldChg chg="addSp delSp modSp mod">
        <pc:chgData name="Sayoojya Prasad" userId="fa2a096117177298" providerId="LiveId" clId="{0DE794C5-0F85-49C2-872C-A4F30B3AFE0D}" dt="2022-08-24T01:06:03.652" v="543" actId="122"/>
        <pc:sldMkLst>
          <pc:docMk/>
          <pc:sldMk cId="2171072559" sldId="261"/>
        </pc:sldMkLst>
        <pc:spChg chg="mod">
          <ac:chgData name="Sayoojya Prasad" userId="fa2a096117177298" providerId="LiveId" clId="{0DE794C5-0F85-49C2-872C-A4F30B3AFE0D}" dt="2022-08-24T00:53:30.416" v="379" actId="14100"/>
          <ac:spMkLst>
            <pc:docMk/>
            <pc:sldMk cId="2171072559" sldId="261"/>
            <ac:spMk id="3" creationId="{03278275-E80E-B675-6366-2C1829178659}"/>
          </ac:spMkLst>
        </pc:spChg>
        <pc:spChg chg="add del">
          <ac:chgData name="Sayoojya Prasad" userId="fa2a096117177298" providerId="LiveId" clId="{0DE794C5-0F85-49C2-872C-A4F30B3AFE0D}" dt="2022-08-24T01:00:29.632" v="381" actId="478"/>
          <ac:spMkLst>
            <pc:docMk/>
            <pc:sldMk cId="2171072559" sldId="261"/>
            <ac:spMk id="8" creationId="{B0022AB6-F994-D42A-F463-8DAC8FF5B7DD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9" creationId="{3F6E75E9-CED9-F396-3C6A-F4961B95B2E5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0" creationId="{66F81C3B-46C0-AACC-A798-BB17AFE0DDEF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1" creationId="{CBAAFBC8-DD1E-7575-16D3-5B4DAE5C2333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2" creationId="{22D5B6B8-4EC7-C3A8-CA08-1DC76F7CAC80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3" creationId="{2DB91973-231D-8E76-A0CD-9548418FEACA}"/>
          </ac:spMkLst>
        </pc:spChg>
        <pc:spChg chg="add mod">
          <ac:chgData name="Sayoojya Prasad" userId="fa2a096117177298" providerId="LiveId" clId="{0DE794C5-0F85-49C2-872C-A4F30B3AFE0D}" dt="2022-08-24T01:06:03.652" v="543" actId="122"/>
          <ac:spMkLst>
            <pc:docMk/>
            <pc:sldMk cId="2171072559" sldId="261"/>
            <ac:spMk id="22" creationId="{8FC9FA33-3BDA-7511-108C-DB38E8641DA1}"/>
          </ac:spMkLst>
        </pc:sp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5" creationId="{D04654B8-E17E-B292-9EB0-15C166B2A5AF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7" creationId="{07381A85-2813-919B-3609-9F510C5E1207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9" creationId="{09EDE5BB-1AB6-D067-5666-95DD2A44F119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21" creationId="{19902C45-B5C4-BF54-AD0F-8A864001EC3B}"/>
          </ac:cxnSpMkLst>
        </pc:cxnChg>
      </pc:sldChg>
      <pc:sldChg chg="addSp delSp modSp mod">
        <pc:chgData name="Sayoojya Prasad" userId="fa2a096117177298" providerId="LiveId" clId="{0DE794C5-0F85-49C2-872C-A4F30B3AFE0D}" dt="2022-08-24T10:24:40.118" v="786" actId="20577"/>
        <pc:sldMkLst>
          <pc:docMk/>
          <pc:sldMk cId="3890963789" sldId="264"/>
        </pc:sldMkLst>
        <pc:spChg chg="mod">
          <ac:chgData name="Sayoojya Prasad" userId="fa2a096117177298" providerId="LiveId" clId="{0DE794C5-0F85-49C2-872C-A4F30B3AFE0D}" dt="2022-08-24T10:24:40.118" v="786" actId="20577"/>
          <ac:spMkLst>
            <pc:docMk/>
            <pc:sldMk cId="3890963789" sldId="264"/>
            <ac:spMk id="3" creationId="{F3CABBCC-CF05-C966-436C-DAF2BE86ADEB}"/>
          </ac:spMkLst>
        </pc:spChg>
        <pc:graphicFrameChg chg="add del mod modGraphic">
          <ac:chgData name="Sayoojya Prasad" userId="fa2a096117177298" providerId="LiveId" clId="{0DE794C5-0F85-49C2-872C-A4F30B3AFE0D}" dt="2022-08-24T10:10:18.445" v="571" actId="478"/>
          <ac:graphicFrameMkLst>
            <pc:docMk/>
            <pc:sldMk cId="3890963789" sldId="264"/>
            <ac:graphicFrameMk id="2" creationId="{E800589E-0FEA-2287-C5CB-9FE23DD8A177}"/>
          </ac:graphicFrameMkLst>
        </pc:graphicFrameChg>
        <pc:graphicFrameChg chg="add mod modGraphic">
          <ac:chgData name="Sayoojya Prasad" userId="fa2a096117177298" providerId="LiveId" clId="{0DE794C5-0F85-49C2-872C-A4F30B3AFE0D}" dt="2022-08-24T10:21:43.071" v="741" actId="1076"/>
          <ac:graphicFrameMkLst>
            <pc:docMk/>
            <pc:sldMk cId="3890963789" sldId="264"/>
            <ac:graphicFrameMk id="5" creationId="{8B13E822-DC37-FB49-4463-D8481EA2024A}"/>
          </ac:graphicFrameMkLst>
        </pc:graphicFrameChg>
      </pc:sldChg>
      <pc:sldChg chg="modSp mod">
        <pc:chgData name="Sayoojya Prasad" userId="fa2a096117177298" providerId="LiveId" clId="{0DE794C5-0F85-49C2-872C-A4F30B3AFE0D}" dt="2022-08-24T00:43:49.120" v="341" actId="20577"/>
        <pc:sldMkLst>
          <pc:docMk/>
          <pc:sldMk cId="1145527489" sldId="265"/>
        </pc:sldMkLst>
        <pc:spChg chg="mod">
          <ac:chgData name="Sayoojya Prasad" userId="fa2a096117177298" providerId="LiveId" clId="{0DE794C5-0F85-49C2-872C-A4F30B3AFE0D}" dt="2022-08-24T00:43:49.120" v="341" actId="20577"/>
          <ac:spMkLst>
            <pc:docMk/>
            <pc:sldMk cId="1145527489" sldId="265"/>
            <ac:spMk id="2" creationId="{893C2FE8-C99D-4253-8F6A-39EBB4649C8D}"/>
          </ac:spMkLst>
        </pc:spChg>
      </pc:sldChg>
      <pc:sldChg chg="modSp mod">
        <pc:chgData name="Sayoojya Prasad" userId="fa2a096117177298" providerId="LiveId" clId="{0DE794C5-0F85-49C2-872C-A4F30B3AFE0D}" dt="2022-08-24T00:43:38.404" v="329" actId="20577"/>
        <pc:sldMkLst>
          <pc:docMk/>
          <pc:sldMk cId="3729940283" sldId="266"/>
        </pc:sldMkLst>
        <pc:spChg chg="mod">
          <ac:chgData name="Sayoojya Prasad" userId="fa2a096117177298" providerId="LiveId" clId="{0DE794C5-0F85-49C2-872C-A4F30B3AFE0D}" dt="2022-08-24T00:43:38.404" v="329" actId="20577"/>
          <ac:spMkLst>
            <pc:docMk/>
            <pc:sldMk cId="3729940283" sldId="266"/>
            <ac:spMk id="2" creationId="{EA768CB2-A47F-58A6-9C5D-E53BC1B6588B}"/>
          </ac:spMkLst>
        </pc:spChg>
      </pc:sldChg>
      <pc:sldChg chg="delSp modSp new mod">
        <pc:chgData name="Sayoojya Prasad" userId="fa2a096117177298" providerId="LiveId" clId="{0DE794C5-0F85-49C2-872C-A4F30B3AFE0D}" dt="2022-08-24T00:44:10.845" v="345" actId="14100"/>
        <pc:sldMkLst>
          <pc:docMk/>
          <pc:sldMk cId="464534243" sldId="273"/>
        </pc:sldMkLst>
        <pc:spChg chg="del">
          <ac:chgData name="Sayoojya Prasad" userId="fa2a096117177298" providerId="LiveId" clId="{0DE794C5-0F85-49C2-872C-A4F30B3AFE0D}" dt="2022-08-24T00:41:21.430" v="15" actId="478"/>
          <ac:spMkLst>
            <pc:docMk/>
            <pc:sldMk cId="464534243" sldId="273"/>
            <ac:spMk id="2" creationId="{3B47A0F0-8BAF-58D9-A816-75265F9F3D27}"/>
          </ac:spMkLst>
        </pc:spChg>
        <pc:spChg chg="mod">
          <ac:chgData name="Sayoojya Prasad" userId="fa2a096117177298" providerId="LiveId" clId="{0DE794C5-0F85-49C2-872C-A4F30B3AFE0D}" dt="2022-08-24T00:44:10.845" v="345" actId="14100"/>
          <ac:spMkLst>
            <pc:docMk/>
            <pc:sldMk cId="464534243" sldId="273"/>
            <ac:spMk id="3" creationId="{6D2ECDF9-649C-0A47-1D01-8730A6C7EEAA}"/>
          </ac:spMkLst>
        </pc:spChg>
        <pc:spChg chg="mod">
          <ac:chgData name="Sayoojya Prasad" userId="fa2a096117177298" providerId="LiveId" clId="{0DE794C5-0F85-49C2-872C-A4F30B3AFE0D}" dt="2022-08-24T00:41:19.073" v="14" actId="20577"/>
          <ac:spMkLst>
            <pc:docMk/>
            <pc:sldMk cId="464534243" sldId="273"/>
            <ac:spMk id="4" creationId="{6F9E6954-F988-9F55-8B25-A0399682C6B4}"/>
          </ac:spMkLst>
        </pc:spChg>
      </pc:sldChg>
      <pc:sldMasterChg chg="modSp mod">
        <pc:chgData name="Sayoojya Prasad" userId="fa2a096117177298" providerId="LiveId" clId="{0DE794C5-0F85-49C2-872C-A4F30B3AFE0D}" dt="2022-08-24T11:05:12.701" v="787" actId="20577"/>
        <pc:sldMasterMkLst>
          <pc:docMk/>
          <pc:sldMasterMk cId="3038685260" sldId="2147483811"/>
        </pc:sldMasterMkLst>
        <pc:spChg chg="mod">
          <ac:chgData name="Sayoojya Prasad" userId="fa2a096117177298" providerId="LiveId" clId="{0DE794C5-0F85-49C2-872C-A4F30B3AFE0D}" dt="2022-08-24T11:05:12.701" v="787" actId="20577"/>
          <ac:spMkLst>
            <pc:docMk/>
            <pc:sldMasterMk cId="3038685260" sldId="2147483811"/>
            <ac:spMk id="15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89147A-E99F-426E-8428-4F7A2B762C1A}" type="datetimeFigureOut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30.08.2023</a:t>
            </a:fld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FEB8BDD-D483-4F2A-8149-5CAA22251911}" type="slidenum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lang="de-DE" sz="10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278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+mn-lt"/>
              </a:defRPr>
            </a:lvl1pPr>
          </a:lstStyle>
          <a:p>
            <a:pPr>
              <a:defRPr/>
            </a:pPr>
            <a:fld id="{E619EF57-6584-4C28-9DE9-68C51C925951}" type="datetimeFigureOut">
              <a:rPr lang="de-DE" smtClean="0"/>
              <a:pPr>
                <a:defRPr/>
              </a:pPr>
              <a:t>30.08.2023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B79B9A-35EE-4156-AEAA-A71D25E1C590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105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wmf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3265737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 baseline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915691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Author list</a:t>
            </a:r>
          </a:p>
        </p:txBody>
      </p:sp>
      <p:pic>
        <p:nvPicPr>
          <p:cNvPr id="8" name="Picture 3" descr="An aerial view of the Aalto University campus at sunset/ Photo by Mika Huisman">
            <a:extLst>
              <a:ext uri="{FF2B5EF4-FFF2-40B4-BE49-F238E27FC236}">
                <a16:creationId xmlns:a16="http://schemas.microsoft.com/office/drawing/2014/main" id="{285388FA-C0D1-46D0-9F89-F45FA70FF5C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62" b="16262"/>
          <a:stretch/>
        </p:blipFill>
        <p:spPr bwMode="auto">
          <a:xfrm>
            <a:off x="0" y="1"/>
            <a:ext cx="12192000" cy="299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56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An aerial view of the Aalto University campus at sunset/ Photo by Mika Huisman">
            <a:extLst>
              <a:ext uri="{FF2B5EF4-FFF2-40B4-BE49-F238E27FC236}">
                <a16:creationId xmlns:a16="http://schemas.microsoft.com/office/drawing/2014/main" id="{285388FA-C0D1-46D0-9F89-F45FA70FF5C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62" b="16262"/>
          <a:stretch/>
        </p:blipFill>
        <p:spPr bwMode="auto">
          <a:xfrm>
            <a:off x="0" y="1"/>
            <a:ext cx="12192000" cy="299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3265737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 baseline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915691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Author list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6953" y="6153414"/>
            <a:ext cx="2371047" cy="5815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/>
          <a:srcRect l="222" r="-29"/>
          <a:stretch/>
        </p:blipFill>
        <p:spPr>
          <a:xfrm>
            <a:off x="0" y="-3467"/>
            <a:ext cx="12193200" cy="307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1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1145309"/>
            <a:ext cx="11425767" cy="3733541"/>
          </a:xfrm>
          <a:prstGeom prst="rect">
            <a:avLst/>
          </a:prstGeom>
        </p:spPr>
        <p:txBody>
          <a:bodyPr lIns="0" tIns="0" rIns="0" bIns="0"/>
          <a:lstStyle>
            <a:lvl1pPr marL="215900" indent="-432000">
              <a:lnSpc>
                <a:spcPct val="135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q"/>
              <a:defRPr baseline="0"/>
            </a:lvl1pPr>
            <a:lvl2pPr marL="792000" indent="-360000"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lvl2pPr>
            <a:lvl3pPr marL="1080000" indent="-288000"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 marL="1368000" indent="-288000">
              <a:lnSpc>
                <a:spcPct val="135000"/>
              </a:lnSpc>
              <a:buClr>
                <a:srgbClr val="C00000"/>
              </a:buClr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noProof="0" dirty="0"/>
              <a:t>List</a:t>
            </a:r>
          </a:p>
          <a:p>
            <a:pPr lvl="1"/>
            <a:r>
              <a:rPr lang="en-US" noProof="0" dirty="0"/>
              <a:t>Second level 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9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1684800"/>
            <a:ext cx="11425767" cy="3194050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buClr>
                <a:srgbClr val="C00000"/>
              </a:buClr>
              <a:buFont typeface="Arial" panose="020B0604020202020204" pitchFamily="34" charset="0"/>
              <a:buChar char="•"/>
              <a:defRPr baseline="0"/>
            </a:lvl1pPr>
            <a:lvl2pPr marL="4318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6477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3pPr>
            <a:lvl4pPr marL="8636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noProof="0" dirty="0"/>
              <a:t>List</a:t>
            </a:r>
          </a:p>
          <a:p>
            <a:pPr lvl="1"/>
            <a:r>
              <a:rPr lang="en-US" noProof="0" dirty="0"/>
              <a:t>Second level </a:t>
            </a:r>
          </a:p>
          <a:p>
            <a:pPr lvl="2"/>
            <a:r>
              <a:rPr lang="en-US" noProof="0" dirty="0"/>
              <a:t>Third level </a:t>
            </a:r>
          </a:p>
          <a:p>
            <a:pPr lvl="3"/>
            <a:r>
              <a:rPr lang="en-US" noProof="0" dirty="0"/>
              <a:t>Forth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2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 baseline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 hasCustomPrompt="1"/>
          </p:nvPr>
        </p:nvSpPr>
        <p:spPr>
          <a:xfrm>
            <a:off x="383118" y="1684800"/>
            <a:ext cx="11425767" cy="36322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C00000"/>
              </a:buClr>
              <a:defRPr/>
            </a:lvl1pPr>
          </a:lstStyle>
          <a:p>
            <a:pPr lvl="0"/>
            <a:r>
              <a:rPr lang="en-US" noProof="0" dirty="0"/>
              <a:t>Add diagram by clicking on the symbol</a:t>
            </a:r>
            <a:endParaRPr lang="de-DE" noProof="0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9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Slide title</a:t>
            </a:r>
            <a:endParaRPr lang="en-US" dirty="0"/>
          </a:p>
        </p:txBody>
      </p:sp>
      <p:pic>
        <p:nvPicPr>
          <p:cNvPr id="6" name="Picture 2" descr="P:\Orgakram\rwth_iehk_en_rgb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184115"/>
            <a:ext cx="3169232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247100"/>
            <a:ext cx="1726229" cy="9257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205740" y="3422302"/>
            <a:ext cx="2371047" cy="5815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" y="4312219"/>
            <a:ext cx="1103176" cy="570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1FCDCF-DD0C-4E28-91B5-6A8074C3ECB1}"/>
              </a:ext>
            </a:extLst>
          </p:cNvPr>
          <p:cNvPicPr/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6" t="30686" r="11868" b="31017"/>
          <a:stretch/>
        </p:blipFill>
        <p:spPr bwMode="auto">
          <a:xfrm>
            <a:off x="6821940" y="3362425"/>
            <a:ext cx="3200400" cy="606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12313F-E56E-4AEB-8C41-345FCE24D81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36114" y="3403636"/>
            <a:ext cx="2755631" cy="5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7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>
          <a:xfrm>
            <a:off x="383118" y="2169979"/>
            <a:ext cx="11425767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noProof="0" dirty="0">
                <a:solidFill>
                  <a:srgbClr val="C00000"/>
                </a:solidFill>
              </a:rPr>
              <a:t>Thank you!</a:t>
            </a: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3608522"/>
            <a:ext cx="11425767" cy="20362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 dirty="0"/>
              <a:t>Add text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7838" y="196028"/>
            <a:ext cx="2371047" cy="5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3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/>
          <p:cNvCxnSpPr/>
          <p:nvPr/>
        </p:nvCxnSpPr>
        <p:spPr>
          <a:xfrm>
            <a:off x="268289" y="814388"/>
            <a:ext cx="11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 userDrawn="1"/>
        </p:nvCxnSpPr>
        <p:spPr>
          <a:xfrm>
            <a:off x="268289" y="6534564"/>
            <a:ext cx="11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1"/>
          <p:cNvSpPr>
            <a:spLocks noChangeArrowheads="1"/>
          </p:cNvSpPr>
          <p:nvPr userDrawn="1"/>
        </p:nvSpPr>
        <p:spPr bwMode="auto">
          <a:xfrm>
            <a:off x="268289" y="6617285"/>
            <a:ext cx="842433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9pPr>
          </a:lstStyle>
          <a:p>
            <a:pPr eaLnBrk="1" latinLnBrk="1" hangingPunct="1">
              <a:defRPr/>
            </a:pPr>
            <a:fld id="{3DDF5E21-2980-4365-AB15-B4F6486D8378}" type="slidenum">
              <a:rPr kumimoji="1" lang="ko-KR" altLang="en-US" sz="1200" smtClean="0">
                <a:solidFill>
                  <a:schemeClr val="tx1"/>
                </a:solidFill>
                <a:ea typeface="휴먼옛체"/>
                <a:cs typeface="휴먼옛체"/>
              </a:rPr>
              <a:pPr eaLnBrk="1" latinLnBrk="1" hangingPunct="1">
                <a:defRPr/>
              </a:pPr>
              <a:t>‹#›</a:t>
            </a:fld>
            <a:endParaRPr kumimoji="1" lang="en-US" altLang="ko-KR" sz="1200" dirty="0">
              <a:solidFill>
                <a:schemeClr val="tx1"/>
              </a:solidFill>
              <a:latin typeface="+mn-lt"/>
              <a:ea typeface="휴먼옛체"/>
              <a:cs typeface="휴먼옛체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7838" y="196028"/>
            <a:ext cx="2371047" cy="581507"/>
          </a:xfrm>
          <a:prstGeom prst="rect">
            <a:avLst/>
          </a:prstGeom>
        </p:spPr>
      </p:pic>
      <p:sp>
        <p:nvSpPr>
          <p:cNvPr id="15" name="Subtitle 2"/>
          <p:cNvSpPr txBox="1">
            <a:spLocks/>
          </p:cNvSpPr>
          <p:nvPr userDrawn="1"/>
        </p:nvSpPr>
        <p:spPr>
          <a:xfrm>
            <a:off x="384000" y="6563944"/>
            <a:ext cx="11424000" cy="28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1000" dirty="0"/>
              <a:t>Data-driven Approach to Investigate the Effect of Temperature and Strain Rates on the Plastic Behavior of Steel</a:t>
            </a:r>
          </a:p>
        </p:txBody>
      </p:sp>
      <p:sp>
        <p:nvSpPr>
          <p:cNvPr id="18" name="Subtitle 2"/>
          <p:cNvSpPr txBox="1">
            <a:spLocks/>
          </p:cNvSpPr>
          <p:nvPr userDrawn="1"/>
        </p:nvSpPr>
        <p:spPr>
          <a:xfrm>
            <a:off x="10370820" y="6563944"/>
            <a:ext cx="1552891" cy="28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lang="en-US" sz="1200" dirty="0"/>
              <a:t>Sayoojya Prasad</a:t>
            </a:r>
          </a:p>
        </p:txBody>
      </p:sp>
    </p:spTree>
    <p:extLst>
      <p:ext uri="{BB962C8B-B14F-4D97-AF65-F5344CB8AC3E}">
        <p14:creationId xmlns:p14="http://schemas.microsoft.com/office/powerpoint/2010/main" val="303868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12" r:id="rId2"/>
    <p:sldLayoutId id="2147483831" r:id="rId3"/>
    <p:sldLayoutId id="2147483825" r:id="rId4"/>
    <p:sldLayoutId id="2147483819" r:id="rId5"/>
    <p:sldLayoutId id="2147483823" r:id="rId6"/>
    <p:sldLayoutId id="2147483830" r:id="rId7"/>
    <p:sldLayoutId id="2147483824" r:id="rId8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fontAlgn="base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fontAlgn="base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ibm.com/cloud/learn/recurrent-neural-network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EFFC-456C-41CA-8582-6E6865842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3147402"/>
            <a:ext cx="11546231" cy="1372969"/>
          </a:xfrm>
        </p:spPr>
        <p:txBody>
          <a:bodyPr/>
          <a:lstStyle/>
          <a:p>
            <a:r>
              <a:rPr lang="en-US" dirty="0"/>
              <a:t>Data-driven Approach to Investigate the Effect of Temperature and Strain Rates on the Plastic Behaviour of Steel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446D3-27BC-4FFA-87B7-6082B53C7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4638705"/>
            <a:ext cx="11424000" cy="165576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Sayoojya Prasad</a:t>
            </a:r>
          </a:p>
          <a:p>
            <a:r>
              <a:rPr lang="en-US" dirty="0"/>
              <a:t>Aalto University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15/06/2023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42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ECDF9-649C-0A47-1D01-8730A6C7EE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190278"/>
            <a:ext cx="11594219" cy="463202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Objective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General Workflow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LSTM / RNN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LSTM Architecture and Specifics in this Study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Results</a:t>
            </a:r>
          </a:p>
          <a:p>
            <a:pPr marL="558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Training results</a:t>
            </a:r>
          </a:p>
          <a:p>
            <a:pPr marL="558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Testing results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Interpolation Task</a:t>
            </a:r>
          </a:p>
          <a:p>
            <a:pPr marL="558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Stress vs. strain and initial temperature 3D plots</a:t>
            </a:r>
          </a:p>
          <a:p>
            <a:pPr marL="5588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Evolved temperature vs. strain and strain rate 3D plots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9E6954-F988-9F55-8B25-A0399682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53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27C98-D328-F534-8E1A-243C28FC4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684800"/>
            <a:ext cx="9025041" cy="42263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Wide application of steel in the automotive industry – plasticity plays a big role </a:t>
            </a:r>
          </a:p>
          <a:p>
            <a:pPr>
              <a:lnSpc>
                <a:spcPct val="150000"/>
              </a:lnSpc>
            </a:pPr>
            <a:r>
              <a:rPr lang="en-US" dirty="0"/>
              <a:t>Plasticity of steels are affected by external features such as temperature and strain rate</a:t>
            </a:r>
          </a:p>
          <a:p>
            <a:pPr>
              <a:lnSpc>
                <a:spcPct val="150000"/>
              </a:lnSpc>
            </a:pPr>
            <a:r>
              <a:rPr lang="en-US" dirty="0"/>
              <a:t>Machine learning to study the combined effect of strain rate and temperature on the plastic behavior of steel</a:t>
            </a:r>
          </a:p>
          <a:p>
            <a:pPr>
              <a:lnSpc>
                <a:spcPct val="150000"/>
              </a:lnSpc>
            </a:pPr>
            <a:r>
              <a:rPr lang="en-US" dirty="0"/>
              <a:t>Long-short term memory (LSTM) algorithm</a:t>
            </a:r>
          </a:p>
          <a:p>
            <a:pPr>
              <a:lnSpc>
                <a:spcPct val="150000"/>
              </a:lnSpc>
            </a:pPr>
            <a:r>
              <a:rPr lang="en-US" dirty="0"/>
              <a:t>Material: AISI 439</a:t>
            </a:r>
          </a:p>
          <a:p>
            <a:pPr>
              <a:lnSpc>
                <a:spcPct val="150000"/>
              </a:lnSpc>
            </a:pPr>
            <a:r>
              <a:rPr lang="en-US" dirty="0"/>
              <a:t>Machine learning is proved to be the most efficient modeling approach to solve this problem compared to experiments and conventional simulations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C8F01C-F3BE-F19E-8D8A-DF6B5CD4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84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B5226-FF9F-71E9-6875-82DECF0DA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3248" y="2109286"/>
            <a:ext cx="5601438" cy="341251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ANN model to study the non-linear and coupled effect of strain rate and temperature </a:t>
            </a:r>
          </a:p>
          <a:p>
            <a:pPr lvl="1"/>
            <a:r>
              <a:rPr lang="en-US" dirty="0"/>
              <a:t>Proved to be much more accurate and less time-consuming than traditional models</a:t>
            </a:r>
          </a:p>
          <a:p>
            <a:pPr lvl="1"/>
            <a:r>
              <a:rPr lang="en-US" dirty="0"/>
              <a:t>Inputs: strain, strain rate, temperature at different strain levels</a:t>
            </a:r>
          </a:p>
          <a:p>
            <a:pPr lvl="1"/>
            <a:r>
              <a:rPr lang="en-US" dirty="0"/>
              <a:t>Outputs: stress</a:t>
            </a:r>
          </a:p>
          <a:p>
            <a:pPr lvl="1"/>
            <a:r>
              <a:rPr lang="en-US" dirty="0"/>
              <a:t>Limitations: </a:t>
            </a:r>
          </a:p>
          <a:p>
            <a:pPr lvl="2"/>
            <a:r>
              <a:rPr lang="en-US" dirty="0"/>
              <a:t>does not predict evolved T</a:t>
            </a:r>
          </a:p>
          <a:p>
            <a:pPr lvl="2"/>
            <a:r>
              <a:rPr lang="en-US" dirty="0"/>
              <a:t>Uses ANN for a sequence problem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D36C62-602A-2AEB-5E43-01AA1B22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2991E-89F9-2DA8-3480-0E0B13060B64}"/>
              </a:ext>
            </a:extLst>
          </p:cNvPr>
          <p:cNvSpPr txBox="1"/>
          <p:nvPr/>
        </p:nvSpPr>
        <p:spPr>
          <a:xfrm>
            <a:off x="274319" y="952746"/>
            <a:ext cx="11643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“Machine learning-based modeling of the coupling effect of strain rate and temperature on strain hardening for 5182-O aluminum alloy” </a:t>
            </a:r>
          </a:p>
          <a:p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Hongchun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Shang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,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Pengfei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Wu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,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Yanshan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 Lou,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Jizhen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 Wang, </a:t>
            </a:r>
            <a:r>
              <a:rPr lang="fi-FI" sz="1400" b="0" i="0" u="none" strike="noStrike" baseline="0" dirty="0" err="1">
                <a:solidFill>
                  <a:srgbClr val="000000"/>
                </a:solidFill>
                <a:latin typeface="Charis SIL"/>
              </a:rPr>
              <a:t>Qiang</a:t>
            </a:r>
            <a:r>
              <a:rPr lang="fi-FI" sz="1400" b="0" i="0" u="none" strike="noStrike" baseline="0" dirty="0">
                <a:solidFill>
                  <a:srgbClr val="000000"/>
                </a:solidFill>
                <a:latin typeface="Charis SIL"/>
              </a:rPr>
              <a:t> Chen</a:t>
            </a:r>
            <a:endParaRPr lang="en-US" b="1" dirty="0"/>
          </a:p>
          <a:p>
            <a:endParaRPr lang="en-US" sz="12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7F521-4B81-521F-217C-821256485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615" y="1712023"/>
            <a:ext cx="4389630" cy="3433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3FBB8-FE32-ABF8-3DCE-422531850200}"/>
              </a:ext>
            </a:extLst>
          </p:cNvPr>
          <p:cNvSpPr txBox="1"/>
          <p:nvPr/>
        </p:nvSpPr>
        <p:spPr>
          <a:xfrm>
            <a:off x="7663262" y="5080779"/>
            <a:ext cx="3769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Machine learning-based modeling of the coupling effect of strain rate and temperature on strain hardening for 5182-O aluminum alloy</a:t>
            </a:r>
            <a:endParaRPr lang="fi-FI" sz="800" dirty="0"/>
          </a:p>
        </p:txBody>
      </p:sp>
    </p:spTree>
    <p:extLst>
      <p:ext uri="{BB962C8B-B14F-4D97-AF65-F5344CB8AC3E}">
        <p14:creationId xmlns:p14="http://schemas.microsoft.com/office/powerpoint/2010/main" val="170878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685367-5069-F0A4-B335-A35F438385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Isothermal Flow Curve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82D85-1665-E4F7-0C9C-5496CF715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2292432"/>
            <a:ext cx="7020572" cy="3341450"/>
          </a:xfrm>
        </p:spPr>
        <p:txBody>
          <a:bodyPr/>
          <a:lstStyle/>
          <a:p>
            <a:r>
              <a:rPr lang="en-US" dirty="0"/>
              <a:t>Training and testing primarily includes isothermal data (i.e. no increase in specimen temperature)</a:t>
            </a:r>
          </a:p>
          <a:p>
            <a:r>
              <a:rPr lang="en-US" dirty="0"/>
              <a:t>Isothermal model was built due to lack of data- difficult to record temperature increase in experiments</a:t>
            </a:r>
          </a:p>
          <a:p>
            <a:r>
              <a:rPr lang="en-US" dirty="0"/>
              <a:t>Manual isothermal correction was done to neglect effects of thermal softening</a:t>
            </a:r>
          </a:p>
          <a:p>
            <a:r>
              <a:rPr lang="en-US" dirty="0"/>
              <a:t>“Window shifting”</a:t>
            </a:r>
          </a:p>
          <a:p>
            <a:r>
              <a:rPr lang="en-US" dirty="0"/>
              <a:t>Inputs: strain, strain rate, temperature at (t), (t-1), (t-2)</a:t>
            </a:r>
          </a:p>
          <a:p>
            <a:r>
              <a:rPr lang="en-US" dirty="0"/>
              <a:t>Outputs: stress at (t)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Ignores temperature increase</a:t>
            </a:r>
          </a:p>
          <a:p>
            <a:pPr lvl="1"/>
            <a:r>
              <a:rPr lang="en-US" dirty="0"/>
              <a:t>Uses window shifting – model accuracy is greatly affected in its absence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DB0F1B-5E86-514C-458B-CB58CA74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ML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9C4D8-39DB-6531-2651-BACE2B55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20" y="1470647"/>
            <a:ext cx="4894720" cy="2140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5268D1-7E2D-766F-8CEA-5DD6685AAC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40"/>
          <a:stretch/>
        </p:blipFill>
        <p:spPr>
          <a:xfrm>
            <a:off x="8475738" y="3563209"/>
            <a:ext cx="2642937" cy="2070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94273A-E263-19B4-7A83-5547AFCBF4C2}"/>
              </a:ext>
            </a:extLst>
          </p:cNvPr>
          <p:cNvSpPr txBox="1"/>
          <p:nvPr/>
        </p:nvSpPr>
        <p:spPr>
          <a:xfrm>
            <a:off x="9108603" y="5704151"/>
            <a:ext cx="1657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Prediction results</a:t>
            </a:r>
          </a:p>
        </p:txBody>
      </p:sp>
    </p:spTree>
    <p:extLst>
      <p:ext uri="{BB962C8B-B14F-4D97-AF65-F5344CB8AC3E}">
        <p14:creationId xmlns:p14="http://schemas.microsoft.com/office/powerpoint/2010/main" val="257651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21F2-AAE2-26E2-898E-635AD9A473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9" y="1684799"/>
            <a:ext cx="7993966" cy="3642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LSTM model to overcome limitations of previous two models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be used to model long sequences – enables the use of entire flow curves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Uses past information as input for present – eliminates the need for window shifting approach</a:t>
            </a:r>
          </a:p>
          <a:p>
            <a:pPr>
              <a:lnSpc>
                <a:spcPct val="150000"/>
              </a:lnSpc>
            </a:pPr>
            <a:r>
              <a:rPr lang="en-US" dirty="0"/>
              <a:t>Evolved temperature as output -  takes into account the thermal softening effect</a:t>
            </a:r>
          </a:p>
          <a:p>
            <a:pPr>
              <a:lnSpc>
                <a:spcPct val="150000"/>
              </a:lnSpc>
            </a:pPr>
            <a:r>
              <a:rPr lang="en-US" dirty="0"/>
              <a:t>Inputs: strain, strain rate, initial T</a:t>
            </a:r>
          </a:p>
          <a:p>
            <a:pPr>
              <a:lnSpc>
                <a:spcPct val="150000"/>
              </a:lnSpc>
            </a:pPr>
            <a:r>
              <a:rPr lang="en-US" dirty="0"/>
              <a:t>Outputs: stress, evolved 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471E67-F795-4436-99AD-56483403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Adiabatic Flow Curve Modeling using LSTM</a:t>
            </a:r>
          </a:p>
        </p:txBody>
      </p:sp>
    </p:spTree>
    <p:extLst>
      <p:ext uri="{BB962C8B-B14F-4D97-AF65-F5344CB8AC3E}">
        <p14:creationId xmlns:p14="http://schemas.microsoft.com/office/powerpoint/2010/main" val="312709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1D0A-FBE9-2D18-71EE-27D926E78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091681"/>
            <a:ext cx="6344253" cy="46932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RNN (recurrent neural network) : used to model temporal data</a:t>
            </a:r>
          </a:p>
          <a:p>
            <a:pPr>
              <a:lnSpc>
                <a:spcPct val="150000"/>
              </a:lnSpc>
            </a:pPr>
            <a:r>
              <a:rPr lang="en-US" dirty="0"/>
              <a:t>They use their internal state (or memory) to process sequence of inputs (unlike feed-forward ANN)</a:t>
            </a:r>
          </a:p>
          <a:p>
            <a:pPr>
              <a:lnSpc>
                <a:spcPct val="150000"/>
              </a:lnSpc>
            </a:pPr>
            <a:r>
              <a:rPr lang="en-IN" dirty="0"/>
              <a:t>Information from previous time steps/inputs used for prediction in current time step : interdependencies in sequential data is taken into account</a:t>
            </a:r>
          </a:p>
          <a:p>
            <a:pPr>
              <a:lnSpc>
                <a:spcPct val="150000"/>
              </a:lnSpc>
            </a:pPr>
            <a:r>
              <a:rPr lang="en-IN" dirty="0"/>
              <a:t>Chain-like structure, hidden state carries info through the chain</a:t>
            </a:r>
          </a:p>
          <a:p>
            <a:pPr>
              <a:lnSpc>
                <a:spcPct val="150000"/>
              </a:lnSpc>
            </a:pPr>
            <a:r>
              <a:rPr lang="en-US" dirty="0"/>
              <a:t>RNN works well for short sequences</a:t>
            </a:r>
            <a:endParaRPr lang="en-IN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384780-36F8-C2D8-7524-9BEF5BDA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90842"/>
            <a:ext cx="9133840" cy="543600"/>
          </a:xfrm>
        </p:spPr>
        <p:txBody>
          <a:bodyPr/>
          <a:lstStyle/>
          <a:p>
            <a:r>
              <a:rPr lang="en-US" dirty="0"/>
              <a:t>Long Short Term Memory and RNN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9CD4C-467D-A7E7-636C-95368D096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515" y="3539362"/>
            <a:ext cx="5197290" cy="2446232"/>
          </a:xfrm>
          <a:prstGeom prst="rect">
            <a:avLst/>
          </a:prstGeom>
        </p:spPr>
      </p:pic>
      <p:pic>
        <p:nvPicPr>
          <p:cNvPr id="1026" name="Picture 2" descr="recurrent neural networks vs. feedforward neural networks">
            <a:extLst>
              <a:ext uri="{FF2B5EF4-FFF2-40B4-BE49-F238E27FC236}">
                <a16:creationId xmlns:a16="http://schemas.microsoft.com/office/drawing/2014/main" id="{368DDB07-7817-FAB6-7B71-EF9799090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445" y="1104743"/>
            <a:ext cx="4245429" cy="155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59096-98C9-8832-2363-D0FEADFB3F6E}"/>
              </a:ext>
            </a:extLst>
          </p:cNvPr>
          <p:cNvSpPr txBox="1"/>
          <p:nvPr/>
        </p:nvSpPr>
        <p:spPr>
          <a:xfrm>
            <a:off x="8481527" y="2733231"/>
            <a:ext cx="26498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RNN vs ANN </a:t>
            </a:r>
          </a:p>
          <a:p>
            <a:r>
              <a:rPr lang="en-IN" sz="1000" dirty="0">
                <a:hlinkClick r:id="rId4"/>
              </a:rPr>
              <a:t>https://www.ibm.com/cloud/learn/recurrent-neural-networks</a:t>
            </a:r>
            <a:r>
              <a:rPr lang="en-US" sz="1000" dirty="0"/>
              <a:t> </a:t>
            </a:r>
            <a:endParaRPr lang="en-IN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99A2C-9B78-A18D-B9A7-FBD46BD4E6BE}"/>
              </a:ext>
            </a:extLst>
          </p:cNvPr>
          <p:cNvSpPr txBox="1"/>
          <p:nvPr/>
        </p:nvSpPr>
        <p:spPr>
          <a:xfrm>
            <a:off x="8364893" y="6030593"/>
            <a:ext cx="288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simple RNN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27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D518C-1A66-E13A-99BE-5352D8397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9103" y="1488858"/>
            <a:ext cx="5311600" cy="4156162"/>
          </a:xfrm>
        </p:spPr>
        <p:txBody>
          <a:bodyPr/>
          <a:lstStyle/>
          <a:p>
            <a:r>
              <a:rPr lang="en-US" dirty="0"/>
              <a:t>Similar structure as RNN</a:t>
            </a:r>
          </a:p>
          <a:p>
            <a:r>
              <a:rPr lang="en-US" dirty="0"/>
              <a:t>Key point: cell state that runs through the entire chain</a:t>
            </a:r>
          </a:p>
          <a:p>
            <a:r>
              <a:rPr lang="en-US" dirty="0"/>
              <a:t>LSTM can add or remove information in the cell state through different gates in each unit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step: what information should be removed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step: what information should be stored </a:t>
            </a:r>
          </a:p>
          <a:p>
            <a:pPr lvl="1"/>
            <a:r>
              <a:rPr lang="en-US" dirty="0"/>
              <a:t>Which values need to updated</a:t>
            </a:r>
          </a:p>
          <a:p>
            <a:pPr lvl="1"/>
            <a:r>
              <a:rPr lang="en-US" dirty="0"/>
              <a:t>Which new values need to be added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step: output of the unit is computed</a:t>
            </a:r>
          </a:p>
          <a:p>
            <a:endParaRPr lang="en-US" dirty="0"/>
          </a:p>
          <a:p>
            <a:r>
              <a:rPr lang="en-US" dirty="0"/>
              <a:t>This way, only necessary information is retained, and useless information is discarded. </a:t>
            </a:r>
          </a:p>
          <a:p>
            <a:r>
              <a:rPr lang="en-US" dirty="0"/>
              <a:t>Helps to model longer sequences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E1F6BB-7FC3-F441-7502-AAF95EA2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 Term Memory and RNN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C0B1B-F766-2140-1EE3-EA194993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592" y="1839905"/>
            <a:ext cx="6092368" cy="28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6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D863-4EC1-17C8-6909-744F295E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145918"/>
            <a:ext cx="8739051" cy="1261380"/>
          </a:xfrm>
        </p:spPr>
        <p:txBody>
          <a:bodyPr/>
          <a:lstStyle/>
          <a:p>
            <a:r>
              <a:rPr lang="en-US" dirty="0"/>
              <a:t>Total 10 flow curves </a:t>
            </a:r>
            <a:r>
              <a:rPr lang="en-US" b="1" dirty="0"/>
              <a:t>from experiments</a:t>
            </a:r>
            <a:r>
              <a:rPr lang="en-US" dirty="0"/>
              <a:t>: 8 for training and 2 for testing</a:t>
            </a:r>
          </a:p>
          <a:p>
            <a:r>
              <a:rPr lang="en-US" dirty="0"/>
              <a:t>Stress-strain data available for all</a:t>
            </a:r>
          </a:p>
          <a:p>
            <a:r>
              <a:rPr lang="en-US" dirty="0"/>
              <a:t>Temperature evolution data available only for 0.01 /s and 0.1 /s strain rates at 293 K</a:t>
            </a:r>
          </a:p>
          <a:p>
            <a:r>
              <a:rPr lang="en-US" dirty="0"/>
              <a:t>Temperature does not evolve for rest of the flow curves in training set 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B284F-68E5-9F14-3B78-A0AC1DE4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9FA9A6F-6FA9-1748-0E52-3EBBA6943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3819"/>
              </p:ext>
            </p:extLst>
          </p:nvPr>
        </p:nvGraphicFramePr>
        <p:xfrm>
          <a:off x="2031999" y="2650442"/>
          <a:ext cx="8128002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06374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596811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876561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774952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9837119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180115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 (K)</a:t>
                      </a:r>
                      <a:endParaRPr lang="en-IN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Strain Rate (/s)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000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0.000278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5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43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3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07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2EBFF4-C748-5589-9A28-8A04183A35A2}"/>
              </a:ext>
            </a:extLst>
          </p:cNvPr>
          <p:cNvSpPr txBox="1"/>
          <p:nvPr/>
        </p:nvSpPr>
        <p:spPr>
          <a:xfrm>
            <a:off x="5396204" y="5388916"/>
            <a:ext cx="139959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sym typeface="Wingdings" panose="05000000000000000000" pitchFamily="2" charset="2"/>
              </a:rPr>
              <a:t> Training</a:t>
            </a:r>
            <a:endParaRPr lang="en-IN" b="1" dirty="0">
              <a:solidFill>
                <a:schemeClr val="tx2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 Testing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8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78275-E80E-B675-6366-2C18291786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066398"/>
            <a:ext cx="5674079" cy="5458407"/>
          </a:xfrm>
        </p:spPr>
        <p:txBody>
          <a:bodyPr/>
          <a:lstStyle/>
          <a:p>
            <a:r>
              <a:rPr lang="en-US" sz="1600" b="1" dirty="0"/>
              <a:t>Inputs/Features: </a:t>
            </a:r>
            <a:r>
              <a:rPr lang="en-US" sz="1600" dirty="0"/>
              <a:t>strain, strain rate, initial temperature 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Outputs/Labels: </a:t>
            </a:r>
            <a:r>
              <a:rPr lang="en-US" sz="1600" dirty="0"/>
              <a:t>stress, delta T (evolved T – initial T)</a:t>
            </a:r>
          </a:p>
          <a:p>
            <a:endParaRPr lang="en-US" sz="1600" dirty="0"/>
          </a:p>
          <a:p>
            <a:r>
              <a:rPr lang="en-US" sz="1600" b="1" dirty="0"/>
              <a:t>Data normalization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Hyperparameter tuning</a:t>
            </a:r>
            <a:r>
              <a:rPr lang="en-US" sz="1600" dirty="0"/>
              <a:t>: to optimize right number of units per layer: Random search</a:t>
            </a:r>
          </a:p>
          <a:p>
            <a:endParaRPr lang="en-US" sz="1600" dirty="0"/>
          </a:p>
          <a:p>
            <a:r>
              <a:rPr lang="en-US" sz="1600" b="1" dirty="0"/>
              <a:t>Number of epochs </a:t>
            </a:r>
            <a:r>
              <a:rPr lang="en-US" sz="1600" dirty="0"/>
              <a:t>(total number of iterations of training data): 75</a:t>
            </a:r>
          </a:p>
          <a:p>
            <a:endParaRPr lang="en-US" sz="1600" dirty="0"/>
          </a:p>
          <a:p>
            <a:r>
              <a:rPr lang="en-US" sz="1600" b="1" dirty="0"/>
              <a:t>Batch size </a:t>
            </a:r>
            <a:r>
              <a:rPr lang="en-US" sz="1600" dirty="0"/>
              <a:t>(number of data samples processed before adjusting weights and biases): 64</a:t>
            </a:r>
          </a:p>
          <a:p>
            <a:endParaRPr lang="en-US" sz="1600" dirty="0"/>
          </a:p>
          <a:p>
            <a:r>
              <a:rPr lang="en-US" sz="1600" b="1" dirty="0"/>
              <a:t>Activation function </a:t>
            </a:r>
            <a:r>
              <a:rPr lang="en-US" sz="1600" dirty="0"/>
              <a:t>(function to evaluate the output of a node/unit): </a:t>
            </a:r>
            <a:r>
              <a:rPr lang="en-US" sz="1600" dirty="0" err="1"/>
              <a:t>RelU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b="1" dirty="0"/>
              <a:t>Loss function </a:t>
            </a:r>
            <a:r>
              <a:rPr lang="en-US" sz="1600" dirty="0"/>
              <a:t>(function to evaluate how close the predicted and real outcomes are): Mean squared error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04088-EC3A-5D6E-B937-D6211F91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Architecture and Specifics in this Study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E75E9-CED9-F396-3C6A-F4961B95B2E5}"/>
              </a:ext>
            </a:extLst>
          </p:cNvPr>
          <p:cNvSpPr txBox="1"/>
          <p:nvPr/>
        </p:nvSpPr>
        <p:spPr>
          <a:xfrm>
            <a:off x="7959013" y="909559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layer </a:t>
            </a:r>
          </a:p>
          <a:p>
            <a:pPr algn="ctr"/>
            <a:r>
              <a:rPr lang="en-US" dirty="0"/>
              <a:t>(3 units)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81C3B-46C0-AACC-A798-BB17AFE0DDEF}"/>
              </a:ext>
            </a:extLst>
          </p:cNvPr>
          <p:cNvSpPr txBox="1"/>
          <p:nvPr/>
        </p:nvSpPr>
        <p:spPr>
          <a:xfrm>
            <a:off x="7971454" y="2092958"/>
            <a:ext cx="199675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hidden layer</a:t>
            </a:r>
          </a:p>
          <a:p>
            <a:pPr algn="ctr"/>
            <a:r>
              <a:rPr lang="en-US" dirty="0"/>
              <a:t>(330 units)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AFBC8-DD1E-7575-16D3-5B4DAE5C2333}"/>
              </a:ext>
            </a:extLst>
          </p:cNvPr>
          <p:cNvSpPr txBox="1"/>
          <p:nvPr/>
        </p:nvSpPr>
        <p:spPr>
          <a:xfrm>
            <a:off x="7959013" y="3276358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hidden layer </a:t>
            </a:r>
          </a:p>
          <a:p>
            <a:pPr algn="ctr"/>
            <a:r>
              <a:rPr lang="en-US" dirty="0"/>
              <a:t>(290 units)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5B6B8-4EC7-C3A8-CA08-1DC76F7CAC80}"/>
              </a:ext>
            </a:extLst>
          </p:cNvPr>
          <p:cNvSpPr txBox="1"/>
          <p:nvPr/>
        </p:nvSpPr>
        <p:spPr>
          <a:xfrm>
            <a:off x="7959014" y="4459757"/>
            <a:ext cx="19967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hidden layer</a:t>
            </a:r>
          </a:p>
          <a:p>
            <a:pPr algn="ctr"/>
            <a:r>
              <a:rPr lang="en-US" dirty="0"/>
              <a:t>(90 units)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91973-231D-8E76-A0CD-9548418FEACA}"/>
              </a:ext>
            </a:extLst>
          </p:cNvPr>
          <p:cNvSpPr txBox="1"/>
          <p:nvPr/>
        </p:nvSpPr>
        <p:spPr>
          <a:xfrm>
            <a:off x="7971456" y="5643156"/>
            <a:ext cx="19967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layer </a:t>
            </a:r>
          </a:p>
          <a:p>
            <a:pPr algn="ctr"/>
            <a:r>
              <a:rPr lang="en-US" dirty="0"/>
              <a:t>(2 units)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4654B8-E17E-B292-9EB0-15C166B2A5A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957388" y="1555890"/>
            <a:ext cx="12442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381A85-2813-919B-3609-9F510C5E120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8957388" y="2739289"/>
            <a:ext cx="12442" cy="537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EDE5BB-1AB6-D067-5666-95DD2A44F119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8957388" y="3922689"/>
            <a:ext cx="1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902C45-B5C4-BF54-AD0F-8A864001EC3B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8957389" y="5106088"/>
            <a:ext cx="12442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C9FA33-3BDA-7511-108C-DB38E8641DA1}"/>
              </a:ext>
            </a:extLst>
          </p:cNvPr>
          <p:cNvSpPr txBox="1"/>
          <p:nvPr/>
        </p:nvSpPr>
        <p:spPr>
          <a:xfrm>
            <a:off x="10223239" y="3276358"/>
            <a:ext cx="1461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LSTM</a:t>
            </a:r>
          </a:p>
          <a:p>
            <a:pPr algn="ctr"/>
            <a:r>
              <a:rPr lang="en-US" dirty="0"/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07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D1DDF8-A123-8107-4598-7738ECCC8C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600" dirty="0"/>
              <a:t>Training Results, Stress Prediction</a:t>
            </a:r>
            <a:endParaRPr lang="en-IN" sz="16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F4787E-AD7C-B972-33DF-39340C44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3FDF28-A199-21F3-F72E-CC784F6D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59" y="1688447"/>
            <a:ext cx="4409875" cy="342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988026D-0C31-E31A-3E25-AB483791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634" y="1688448"/>
            <a:ext cx="4409875" cy="342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2B1D0-A65E-A2A8-E706-91BF870D6791}"/>
              </a:ext>
            </a:extLst>
          </p:cNvPr>
          <p:cNvSpPr txBox="1"/>
          <p:nvPr/>
        </p:nvSpPr>
        <p:spPr>
          <a:xfrm>
            <a:off x="1493957" y="5153423"/>
            <a:ext cx="296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Strain rate: 0.000278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Initial T: 293 K</a:t>
            </a:r>
            <a:endParaRPr lang="en-US" sz="1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score: 0.9989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D54521-550C-E2B5-B920-D84AA53AFF42}"/>
              </a:ext>
            </a:extLst>
          </p:cNvPr>
          <p:cNvSpPr txBox="1"/>
          <p:nvPr/>
        </p:nvSpPr>
        <p:spPr>
          <a:xfrm>
            <a:off x="7321537" y="5153423"/>
            <a:ext cx="296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Strain rate: 0.1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Initial T: 293 K</a:t>
            </a:r>
            <a:endParaRPr lang="en-US" sz="1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score: 0.9980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997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F9C0A-DB34-5A47-0CFB-F6B2179E4B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600" dirty="0"/>
              <a:t>Testing Results, Stress Prediction</a:t>
            </a:r>
            <a:endParaRPr lang="en-IN" sz="16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457D7-98FB-6F54-72CB-1CC6EEBB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07C475A-7FDF-D272-8427-62E0561DC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08" y="1655925"/>
            <a:ext cx="7992784" cy="308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72449-767B-BE09-20B9-3711CD40C443}"/>
              </a:ext>
            </a:extLst>
          </p:cNvPr>
          <p:cNvSpPr txBox="1"/>
          <p:nvPr/>
        </p:nvSpPr>
        <p:spPr>
          <a:xfrm>
            <a:off x="2740797" y="4786576"/>
            <a:ext cx="296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Strain rate: 0.01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Initial T: 373 K</a:t>
            </a:r>
            <a:endParaRPr lang="en-US" sz="1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score: 0.9076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80857-E6C5-7F5B-2F3B-F863154A010D}"/>
              </a:ext>
            </a:extLst>
          </p:cNvPr>
          <p:cNvSpPr txBox="1"/>
          <p:nvPr/>
        </p:nvSpPr>
        <p:spPr>
          <a:xfrm>
            <a:off x="6824241" y="4786576"/>
            <a:ext cx="296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Strain rate: 0.0001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Initial T: 293 K</a:t>
            </a:r>
            <a:endParaRPr lang="en-US" sz="1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score: 0.9984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DB494-1331-BAD6-3E65-A5E1C3B52383}"/>
              </a:ext>
            </a:extLst>
          </p:cNvPr>
          <p:cNvSpPr txBox="1"/>
          <p:nvPr/>
        </p:nvSpPr>
        <p:spPr>
          <a:xfrm>
            <a:off x="2603582" y="5976046"/>
            <a:ext cx="6984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Additional training data is likely to improve the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1330523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D9C55-C301-DA9D-1EA1-46DC09549A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9" y="1684800"/>
            <a:ext cx="7061868" cy="4244052"/>
          </a:xfrm>
        </p:spPr>
        <p:txBody>
          <a:bodyPr/>
          <a:lstStyle/>
          <a:p>
            <a:r>
              <a:rPr lang="en-US" dirty="0"/>
              <a:t>Temperature dependent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Strain rate dependent function: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delta T function: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Stress function: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0C4D50-3872-FC5C-C290-9A8992AC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3280F-BED0-9030-D535-9C06CC421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251" y="1582410"/>
            <a:ext cx="3533775" cy="54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24468-9DFA-EBF1-A45A-43E6A76A7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352" y="1582410"/>
            <a:ext cx="3192637" cy="2317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0E221A-DEFE-E1D7-4EFF-34DB06FB9314}"/>
              </a:ext>
            </a:extLst>
          </p:cNvPr>
          <p:cNvSpPr txBox="1"/>
          <p:nvPr/>
        </p:nvSpPr>
        <p:spPr>
          <a:xfrm>
            <a:off x="8168372" y="3963609"/>
            <a:ext cx="2778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Parameters of temperature-dependent function f(T)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459473-BA35-54D9-E01A-5A017123B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053" y="2627190"/>
            <a:ext cx="1636272" cy="5699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0B9E7C-A36B-875C-2A45-503E99F97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185" y="3518474"/>
            <a:ext cx="2428875" cy="381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E69FFB-03DC-6322-E814-79B81820B15D}"/>
              </a:ext>
            </a:extLst>
          </p:cNvPr>
          <p:cNvSpPr txBox="1"/>
          <p:nvPr/>
        </p:nvSpPr>
        <p:spPr>
          <a:xfrm>
            <a:off x="3905185" y="3241475"/>
            <a:ext cx="2554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Strain rate sensitivity parameter m: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C66A70-7699-F61A-D2AA-5C63C5FD9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664" y="5203069"/>
            <a:ext cx="2456274" cy="4443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A8F19D-47DE-A90E-6040-ACDE8D2DD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0664" y="4354347"/>
            <a:ext cx="31432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D863-4EC1-17C8-6909-744F295E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145917"/>
            <a:ext cx="9377025" cy="1443899"/>
          </a:xfrm>
        </p:spPr>
        <p:txBody>
          <a:bodyPr lIns="0" tIns="0" rIns="0" bIns="0" anchor="t"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Total 25 flow curves </a:t>
            </a:r>
            <a:r>
              <a:rPr lang="en-US" b="1" dirty="0"/>
              <a:t>from experiments + analytical model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    12 for training, 5 for testing and 8 for validation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B284F-68E5-9F14-3B78-A0AC1DE4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Data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9FA9A6F-6FA9-1748-0E52-3EBBA6943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04762"/>
              </p:ext>
            </p:extLst>
          </p:nvPr>
        </p:nvGraphicFramePr>
        <p:xfrm>
          <a:off x="2031999" y="2650442"/>
          <a:ext cx="8128002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06374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596811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876561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774952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9837119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1801159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 (K)</a:t>
                      </a:r>
                      <a:endParaRPr lang="en-IN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Strain Rate (/s)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000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0.000278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5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43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3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4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accent3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507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2EBFF4-C748-5589-9A28-8A04183A35A2}"/>
              </a:ext>
            </a:extLst>
          </p:cNvPr>
          <p:cNvSpPr txBox="1"/>
          <p:nvPr/>
        </p:nvSpPr>
        <p:spPr>
          <a:xfrm>
            <a:off x="5396203" y="5388916"/>
            <a:ext cx="1635827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sym typeface="Wingdings" panose="05000000000000000000" pitchFamily="2" charset="2"/>
              </a:rPr>
              <a:t> Training</a:t>
            </a:r>
            <a:endParaRPr lang="en-IN" b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Testing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3"/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411585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3DE411-0342-7792-FAF7-CC81E6E68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600" dirty="0"/>
              <a:t>Training Results, Stress Prediction</a:t>
            </a:r>
            <a:endParaRPr lang="en-IN" sz="16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A966EC-B084-4A73-00FE-E07903EB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DE4592-5038-DF32-1085-93B70EB78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42"/>
          <a:stretch/>
        </p:blipFill>
        <p:spPr bwMode="auto">
          <a:xfrm>
            <a:off x="457200" y="1684433"/>
            <a:ext cx="5423051" cy="345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1857F35-C24A-6E1B-736B-40ACABF95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99"/>
          <a:stretch/>
        </p:blipFill>
        <p:spPr bwMode="auto">
          <a:xfrm>
            <a:off x="5960315" y="1646651"/>
            <a:ext cx="5423051" cy="348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67478A-15F3-E3F0-C360-495239557E71}"/>
              </a:ext>
            </a:extLst>
          </p:cNvPr>
          <p:cNvSpPr txBox="1"/>
          <p:nvPr/>
        </p:nvSpPr>
        <p:spPr>
          <a:xfrm>
            <a:off x="4703589" y="5435109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0.999 for all cases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233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901E81-E364-2725-B75F-EE0B812C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AB07766-25B2-58AA-70CB-4BCD974368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03565" y="2004984"/>
            <a:ext cx="4209190" cy="292816"/>
          </a:xfrm>
        </p:spPr>
        <p:txBody>
          <a:bodyPr/>
          <a:lstStyle/>
          <a:p>
            <a:r>
              <a:rPr lang="en-US" sz="1600" dirty="0"/>
              <a:t>Training Results, Temperature Prediction</a:t>
            </a:r>
            <a:endParaRPr lang="en-IN" sz="1600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66003D-F4F1-3F94-D152-75DCB6285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51"/>
          <a:stretch/>
        </p:blipFill>
        <p:spPr bwMode="auto">
          <a:xfrm>
            <a:off x="0" y="867206"/>
            <a:ext cx="6492338" cy="286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C72A3B2-7984-A517-6F62-92CBB35A3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57"/>
          <a:stretch/>
        </p:blipFill>
        <p:spPr bwMode="auto">
          <a:xfrm>
            <a:off x="5896390" y="3728393"/>
            <a:ext cx="6295610" cy="280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986DD-7D64-4F4C-954F-B6A9730D9B19}"/>
              </a:ext>
            </a:extLst>
          </p:cNvPr>
          <p:cNvSpPr txBox="1"/>
          <p:nvPr/>
        </p:nvSpPr>
        <p:spPr>
          <a:xfrm>
            <a:off x="1853758" y="4960209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0.999 for all cases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0713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C63FBB-5738-48ED-4B51-DA5DB36B30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63000"/>
            <a:ext cx="11425767" cy="252000"/>
          </a:xfrm>
        </p:spPr>
        <p:txBody>
          <a:bodyPr/>
          <a:lstStyle/>
          <a:p>
            <a:r>
              <a:rPr lang="en-US" sz="1600" dirty="0"/>
              <a:t>Testing Results, Stress Prediction</a:t>
            </a:r>
            <a:endParaRPr lang="en-IN" sz="16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B4F1E4-9A54-3E6B-7AFC-8B616712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83211-AD5C-12F7-B4E6-DB08A024C96D}"/>
              </a:ext>
            </a:extLst>
          </p:cNvPr>
          <p:cNvSpPr txBox="1"/>
          <p:nvPr/>
        </p:nvSpPr>
        <p:spPr>
          <a:xfrm>
            <a:off x="650290" y="3463313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 for all cases</a:t>
            </a:r>
            <a:endParaRPr lang="en-US" sz="16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6F33E07-C82A-144A-5466-BC30ED8D4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07" y="1360982"/>
            <a:ext cx="7687658" cy="48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427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A66692-974B-0E19-D488-6AF3479FF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1022214"/>
            <a:ext cx="11425767" cy="252000"/>
          </a:xfrm>
        </p:spPr>
        <p:txBody>
          <a:bodyPr/>
          <a:lstStyle/>
          <a:p>
            <a:r>
              <a:rPr lang="en-US" sz="1600" dirty="0"/>
              <a:t>Testing Results, Temperature Prediction</a:t>
            </a:r>
            <a:endParaRPr lang="en-IN" sz="16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18C92D-3EAC-FA7F-94B4-AE1C8922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05367D-49D5-8B9E-A601-C1C332A2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405" y="2056703"/>
            <a:ext cx="8349868" cy="371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C230D2-A31C-215E-E222-0DD4B870FA9F}"/>
              </a:ext>
            </a:extLst>
          </p:cNvPr>
          <p:cNvSpPr txBox="1"/>
          <p:nvPr/>
        </p:nvSpPr>
        <p:spPr>
          <a:xfrm>
            <a:off x="650290" y="3463313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 for all cases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5662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809603-513E-CDEB-7EF8-84C930AA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50CAFB0-7939-CC44-8517-FD19B4778A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10651"/>
            <a:ext cx="11425238" cy="250825"/>
          </a:xfrm>
        </p:spPr>
        <p:txBody>
          <a:bodyPr/>
          <a:lstStyle/>
          <a:p>
            <a:r>
              <a:rPr lang="en-US" sz="1600" dirty="0"/>
              <a:t>Validation Results, Stress Prediction</a:t>
            </a:r>
            <a:endParaRPr lang="en-IN" sz="1600" dirty="0"/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234818-45A5-D920-29EC-C7A36BC66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976" y="820010"/>
            <a:ext cx="5908562" cy="571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35370-D179-96BA-2C67-2538711B6D55}"/>
              </a:ext>
            </a:extLst>
          </p:cNvPr>
          <p:cNvSpPr txBox="1"/>
          <p:nvPr/>
        </p:nvSpPr>
        <p:spPr>
          <a:xfrm>
            <a:off x="650290" y="3463313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 for all cases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9978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F7AD51-38EE-F2F5-62B8-3657E2E7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A535F8F-962F-326A-65F6-CBB3C728C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64174"/>
            <a:ext cx="11425238" cy="250825"/>
          </a:xfrm>
        </p:spPr>
        <p:txBody>
          <a:bodyPr/>
          <a:lstStyle/>
          <a:p>
            <a:r>
              <a:rPr lang="en-US" sz="1600" dirty="0"/>
              <a:t>Validation Results, Temperature Prediction</a:t>
            </a:r>
            <a:endParaRPr lang="en-IN" sz="1600" dirty="0"/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D45F80A-65C2-1898-C097-1735995C8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82" y="869087"/>
            <a:ext cx="6785625" cy="564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52BCC-BDA1-AB1D-DE8B-DEE884690141}"/>
              </a:ext>
            </a:extLst>
          </p:cNvPr>
          <p:cNvSpPr txBox="1"/>
          <p:nvPr/>
        </p:nvSpPr>
        <p:spPr>
          <a:xfrm>
            <a:off x="650290" y="3463313"/>
            <a:ext cx="2784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n-US" sz="1600" b="0" i="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score &gt; 0.99 for all cases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FD3E1-2F6D-065E-7163-AD0624886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5" r="32650"/>
          <a:stretch/>
        </p:blipFill>
        <p:spPr bwMode="auto">
          <a:xfrm>
            <a:off x="4709582" y="4825672"/>
            <a:ext cx="4570103" cy="183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160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ABBCC-CF05-C966-436C-DAF2BE86A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274253"/>
            <a:ext cx="8393819" cy="4128172"/>
          </a:xfrm>
        </p:spPr>
        <p:txBody>
          <a:bodyPr/>
          <a:lstStyle/>
          <a:p>
            <a:r>
              <a:rPr lang="en-US" dirty="0"/>
              <a:t>The trained ML model can be used to generate a high-fidelity dataset of different strain rates and temperatures that lie in the range of the training data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Produces thousands of flow curves in comparably much lesser time compared to experimental methods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Analyzing the produced dataset can help to identify patterns and facilitate further studies</a:t>
            </a:r>
          </a:p>
          <a:p>
            <a:endParaRPr lang="en-US" dirty="0"/>
          </a:p>
          <a:p>
            <a:r>
              <a:rPr lang="en-US" dirty="0"/>
              <a:t>Generates about 23000 flow curves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02AC18-6D27-285E-85C2-1A3AFF74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Task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13E822-DC37-FB49-4463-D8481EA2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38744"/>
              </p:ext>
            </p:extLst>
          </p:nvPr>
        </p:nvGraphicFramePr>
        <p:xfrm>
          <a:off x="2032000" y="4265299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818345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580347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84443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Interval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Step Size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78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2e-8 to 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1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Strain rate (log scale)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 to 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9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Initial temperature (K)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293 to 673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611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963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3C2FE8-C99D-4253-8F6A-39EBB4649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74677"/>
            <a:ext cx="11425767" cy="252000"/>
          </a:xfrm>
        </p:spPr>
        <p:txBody>
          <a:bodyPr/>
          <a:lstStyle/>
          <a:p>
            <a:r>
              <a:rPr lang="en-US" sz="1600" dirty="0"/>
              <a:t>Stress vs. strain and initial temperature 3D plots</a:t>
            </a: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584EF8-DC7C-D26B-93A8-B1EAC1F6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Task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E546B-9547-8517-9B99-75B1D229D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9" y="1226677"/>
            <a:ext cx="2955559" cy="302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B738F-CEFB-96BE-AF91-212D09D5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644" y="3127684"/>
            <a:ext cx="2955559" cy="302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7734003-933E-6EE4-FA35-88FC57C45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84" y="1278664"/>
            <a:ext cx="2955559" cy="302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F303854-09D2-23A0-A069-84A426632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356" y="3127684"/>
            <a:ext cx="2955559" cy="302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527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433798-81C1-9661-3908-A5EF3280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Task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6955A-2882-3C44-670D-F46C79700927}"/>
              </a:ext>
            </a:extLst>
          </p:cNvPr>
          <p:cNvSpPr txBox="1"/>
          <p:nvPr/>
        </p:nvSpPr>
        <p:spPr>
          <a:xfrm>
            <a:off x="7380515" y="2896955"/>
            <a:ext cx="273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Stress at 0.2 value strain is decreasing with increasing temperature</a:t>
            </a:r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DBB1A12-47E4-D8CC-8894-A32DFAC91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659" y="1616628"/>
            <a:ext cx="5072034" cy="362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292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768CB2-A47F-58A6-9C5D-E53BC1B65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058" y="901191"/>
            <a:ext cx="11425767" cy="252000"/>
          </a:xfrm>
        </p:spPr>
        <p:txBody>
          <a:bodyPr/>
          <a:lstStyle/>
          <a:p>
            <a:r>
              <a:rPr lang="en-US" sz="1600" dirty="0"/>
              <a:t>Evolved temperature vs. strain and strain rate 3D plots</a:t>
            </a: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1B332D-8072-7E7A-34D3-675AA724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Task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D5AA6-2C58-9C6E-A2E5-A29AF34F4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4" y="1153191"/>
            <a:ext cx="2773175" cy="27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3E871-6E79-E4DE-53F2-104BE9732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412" y="1164991"/>
            <a:ext cx="2773175" cy="27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8182DDD-DFC8-1F5F-17C2-20B454B48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767" y="1153190"/>
            <a:ext cx="2773175" cy="27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415BDA66-2844-7595-48B2-482E9395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956" y="3648396"/>
            <a:ext cx="2773175" cy="27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C0148BD7-BA22-21BC-8E73-1FAA97F45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090" y="3571705"/>
            <a:ext cx="2773175" cy="276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940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68627-3665-B979-28FD-B5CE6B3B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Task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849BB-E30F-AF5D-1BB5-3DFBB891F2EE}"/>
              </a:ext>
            </a:extLst>
          </p:cNvPr>
          <p:cNvSpPr txBox="1"/>
          <p:nvPr/>
        </p:nvSpPr>
        <p:spPr>
          <a:xfrm>
            <a:off x="1461515" y="5423858"/>
            <a:ext cx="4553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T evolution for smaller strain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Smooth transition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0E2EA-D414-3DCA-36C7-11F4518B57A7}"/>
              </a:ext>
            </a:extLst>
          </p:cNvPr>
          <p:cNvSpPr txBox="1"/>
          <p:nvPr/>
        </p:nvSpPr>
        <p:spPr>
          <a:xfrm>
            <a:off x="6979298" y="5423859"/>
            <a:ext cx="4408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Final evolved temperature is decreasing with increasing initial temperature</a:t>
            </a:r>
            <a:endParaRPr lang="en-IN" sz="16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0542CDC-38C6-8247-AC4E-8D50A4871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14" y="1777870"/>
            <a:ext cx="4620787" cy="330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AB51AAF-F261-B097-1F46-75D2509D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803" y="1777870"/>
            <a:ext cx="4620787" cy="336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433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5437-F98E-7401-504C-4DC9716100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684799"/>
            <a:ext cx="8967359" cy="4373837"/>
          </a:xfrm>
        </p:spPr>
        <p:txBody>
          <a:bodyPr/>
          <a:lstStyle/>
          <a:p>
            <a:r>
              <a:rPr lang="en-US" dirty="0"/>
              <a:t>This study focuses on developing an LSTM model to study the effects of strain rates and temperature on the plastic behavior of AISI439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main novelties of this study:</a:t>
            </a:r>
          </a:p>
          <a:p>
            <a:pPr lvl="1"/>
            <a:r>
              <a:rPr lang="en-US" dirty="0"/>
              <a:t>Predicts temperature evolution along with stress</a:t>
            </a:r>
          </a:p>
          <a:p>
            <a:pPr lvl="1"/>
            <a:r>
              <a:rPr lang="en-US" dirty="0"/>
              <a:t>Uses LSTM algorithm as opposed to the normal feedforward ANN</a:t>
            </a:r>
          </a:p>
          <a:p>
            <a:pPr lvl="1"/>
            <a:endParaRPr lang="en-US" dirty="0"/>
          </a:p>
          <a:p>
            <a:r>
              <a:rPr lang="en-US" dirty="0"/>
              <a:t>Data engineering is a very important step in the development of machine learning models</a:t>
            </a:r>
          </a:p>
          <a:p>
            <a:endParaRPr lang="en-US" dirty="0"/>
          </a:p>
          <a:p>
            <a:r>
              <a:rPr lang="en-US" dirty="0"/>
              <a:t>The trained and validated LSTM model can be used to efficiently create a high-fidelity dataset within minutes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A1EC70-42DE-AC5E-6CFC-8A71E1F8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	</a:t>
            </a:r>
          </a:p>
        </p:txBody>
      </p:sp>
    </p:spTree>
    <p:extLst>
      <p:ext uri="{BB962C8B-B14F-4D97-AF65-F5344CB8AC3E}">
        <p14:creationId xmlns:p14="http://schemas.microsoft.com/office/powerpoint/2010/main" val="2596806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37159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Aalto_2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40711_Powerpointvorlage_institute" id="{6AF4898E-60FD-416D-BF3D-28671F2B1415}" vid="{09427FF8-CA38-4CCF-836C-16EF93A39D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0974AA-3B7F-4AD0-A256-17B0B52E33ED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DCA4D94A3494596A22AA804BC9339" ma:contentTypeVersion="12" ma:contentTypeDescription="Create a new document." ma:contentTypeScope="" ma:versionID="e26c9ec82995539cf28d2357ea99de3f">
  <xsd:schema xmlns:xsd="http://www.w3.org/2001/XMLSchema" xmlns:xs="http://www.w3.org/2001/XMLSchema" xmlns:p="http://schemas.microsoft.com/office/2006/metadata/properties" xmlns:ns2="64c291f9-8b3c-4c62-8e95-2347565a7636" xmlns:ns3="59a49a2f-0480-42b8-ab0f-c803c1d3001c" targetNamespace="http://schemas.microsoft.com/office/2006/metadata/properties" ma:root="true" ma:fieldsID="aba213677fcc252a6a434573507ade37" ns2:_="" ns3:_="">
    <xsd:import namespace="64c291f9-8b3c-4c62-8e95-2347565a7636"/>
    <xsd:import namespace="59a49a2f-0480-42b8-ab0f-c803c1d300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291f9-8b3c-4c62-8e95-2347565a76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d61bb93-c830-477f-800c-34a01ab1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49a2f-0480-42b8-ab0f-c803c1d3001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2fe66bf-1192-4ec1-ba65-6074fd4a45d1}" ma:internalName="TaxCatchAll" ma:showField="CatchAllData" ma:web="59a49a2f-0480-42b8-ab0f-c803c1d30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c291f9-8b3c-4c62-8e95-2347565a7636">
      <Terms xmlns="http://schemas.microsoft.com/office/infopath/2007/PartnerControls"/>
    </lcf76f155ced4ddcb4097134ff3c332f>
    <TaxCatchAll xmlns="59a49a2f-0480-42b8-ab0f-c803c1d3001c" xsi:nil="true"/>
  </documentManagement>
</p:properties>
</file>

<file path=customXml/itemProps1.xml><?xml version="1.0" encoding="utf-8"?>
<ds:datastoreItem xmlns:ds="http://schemas.openxmlformats.org/officeDocument/2006/customXml" ds:itemID="{9635C00D-78BB-4207-97D6-99F1DDD02F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39FE81-7D38-4D06-A1E2-6A6B39420694}"/>
</file>

<file path=customXml/itemProps3.xml><?xml version="1.0" encoding="utf-8"?>
<ds:datastoreItem xmlns:ds="http://schemas.openxmlformats.org/officeDocument/2006/customXml" ds:itemID="{0D091013-F4EF-4A84-8471-93911238D84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Präsentation_Master_RWTH_Institute</Template>
  <TotalTime>2199</TotalTime>
  <Words>1330</Words>
  <Application>Microsoft Office PowerPoint</Application>
  <PresentationFormat>Widescreen</PresentationFormat>
  <Paragraphs>274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Charis SIL</vt:lpstr>
      <vt:lpstr>Symbol</vt:lpstr>
      <vt:lpstr>Wingdings</vt:lpstr>
      <vt:lpstr>Master_Aalto_2</vt:lpstr>
      <vt:lpstr>Data-driven Approach to Investigate the Effect of Temperature and Strain Rates on the Plastic Behaviour of Steel</vt:lpstr>
      <vt:lpstr>Contents</vt:lpstr>
      <vt:lpstr>Objective</vt:lpstr>
      <vt:lpstr>Existing ML Models</vt:lpstr>
      <vt:lpstr>Existing ML Models</vt:lpstr>
      <vt:lpstr>Adiabatic Flow Curve Modeling using LSTM</vt:lpstr>
      <vt:lpstr>Long Short Term Memory and RNN</vt:lpstr>
      <vt:lpstr>Long Short Term Memory and RNN</vt:lpstr>
      <vt:lpstr>Data</vt:lpstr>
      <vt:lpstr>LSTM Architecture and Specifics in this Study</vt:lpstr>
      <vt:lpstr>Preliminary Results</vt:lpstr>
      <vt:lpstr>Preliminary Results</vt:lpstr>
      <vt:lpstr>Analytical Model</vt:lpstr>
      <vt:lpstr>Modified Data</vt:lpstr>
      <vt:lpstr>Results</vt:lpstr>
      <vt:lpstr>Results</vt:lpstr>
      <vt:lpstr>Results</vt:lpstr>
      <vt:lpstr>Results</vt:lpstr>
      <vt:lpstr>Results</vt:lpstr>
      <vt:lpstr>Results</vt:lpstr>
      <vt:lpstr>Interpolation Task</vt:lpstr>
      <vt:lpstr>Interpolation Task</vt:lpstr>
      <vt:lpstr>Interpolation Task</vt:lpstr>
      <vt:lpstr>Interpolation Task</vt:lpstr>
      <vt:lpstr>Interpolation Task</vt:lpstr>
      <vt:lpstr>Conclusions </vt:lpstr>
      <vt:lpstr>PowerPoint Presentation</vt:lpstr>
    </vt:vector>
  </TitlesOfParts>
  <Company>IEHK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Junhe Lian</dc:creator>
  <cp:lastModifiedBy>Prasad Sayoojya</cp:lastModifiedBy>
  <cp:revision>345</cp:revision>
  <dcterms:created xsi:type="dcterms:W3CDTF">2014-11-13T09:09:37Z</dcterms:created>
  <dcterms:modified xsi:type="dcterms:W3CDTF">2023-08-30T14:16:50Z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0x010100A52DCA4D94A3494596A22AA804BC9339</vt:lpwstr>
  </property>
</Properties>
</file>